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122" y="1696012"/>
            <a:ext cx="7772400" cy="1470025"/>
          </a:xfrm>
        </p:spPr>
        <p:txBody>
          <a:bodyPr/>
          <a:lstStyle/>
          <a:p>
            <a:r>
              <a:rPr dirty="0"/>
              <a:t>Cosmos DB Vector Search – </a:t>
            </a:r>
            <a:r>
              <a:rPr lang="en-US" dirty="0" err="1"/>
              <a:t>FuzzyWord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1904"/>
            <a:ext cx="6400800" cy="1752600"/>
          </a:xfrm>
        </p:spPr>
        <p:txBody>
          <a:bodyPr/>
          <a:lstStyle/>
          <a:p>
            <a:r>
              <a:rPr b="1" dirty="0"/>
              <a:t>By: Vinoda Reddy</a:t>
            </a:r>
          </a:p>
          <a:p>
            <a:r>
              <a:rPr b="1" dirty="0"/>
              <a:t>End-to-End System Using Azure OpenAI + Cosmos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Azure Cosmos DB?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55103F-1A61-5D37-7CE1-A813986304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349" y="1547380"/>
            <a:ext cx="8229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fully managed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 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service from Microsoft Azure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low-latency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multiple data models: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documents, key-value, graph, column-family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scales storage and throughput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b="1" dirty="0"/>
              <a:t>Why Use Cosmos DB?</a:t>
            </a:r>
          </a:p>
          <a:p>
            <a:pPr algn="just"/>
            <a:r>
              <a:rPr lang="en-US" sz="1800" b="1" dirty="0"/>
              <a:t>Very low latency</a:t>
            </a:r>
            <a:r>
              <a:rPr lang="en-US" sz="1800" dirty="0"/>
              <a:t> (millisecond responses worldwide)</a:t>
            </a:r>
          </a:p>
          <a:p>
            <a:pPr algn="just"/>
            <a:r>
              <a:rPr lang="en-US" sz="1800" b="1" dirty="0"/>
              <a:t>Fully serverless</a:t>
            </a:r>
            <a:r>
              <a:rPr lang="en-US" sz="1800" dirty="0"/>
              <a:t> and auto-scalable</a:t>
            </a:r>
          </a:p>
          <a:p>
            <a:pPr algn="just"/>
            <a:r>
              <a:rPr lang="en-US" sz="1800" b="1" dirty="0"/>
              <a:t>Schema-less JSON</a:t>
            </a:r>
            <a:r>
              <a:rPr lang="en-US" sz="1800" dirty="0"/>
              <a:t> → easy to store flexible data</a:t>
            </a:r>
          </a:p>
          <a:p>
            <a:pPr algn="just"/>
            <a:r>
              <a:rPr lang="en-US" sz="1800" b="1" dirty="0"/>
              <a:t>Globally distributed</a:t>
            </a:r>
            <a:r>
              <a:rPr lang="en-US" sz="1800" dirty="0"/>
              <a:t> across multiple regions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Cosmo</a:t>
            </a:r>
            <a:r>
              <a:rPr lang="en-US" dirty="0" err="1"/>
              <a:t>sDB</a:t>
            </a:r>
            <a:r>
              <a:rPr lang="en-US" dirty="0"/>
              <a:t> Setup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488915-9A07-90B7-FE0C-C4255548B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852" y="1644605"/>
            <a:ext cx="8382000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Step 1:</a:t>
            </a:r>
            <a:r>
              <a:rPr lang="en-US" sz="2400" dirty="0"/>
              <a:t> Create Cosmos DB Account</a:t>
            </a:r>
            <a:br>
              <a:rPr lang="en-US" sz="2400" dirty="0"/>
            </a:br>
            <a:r>
              <a:rPr lang="en-US" sz="2400" dirty="0"/>
              <a:t>Go to Azure Portal → Create Resource → Select </a:t>
            </a:r>
            <a:r>
              <a:rPr lang="en-US" sz="2400" i="1" dirty="0"/>
              <a:t>Azure Cosmos DB for NoSQL</a:t>
            </a:r>
            <a:r>
              <a:rPr lang="en-US" sz="2400" dirty="0"/>
              <a:t>.</a:t>
            </a:r>
          </a:p>
          <a:p>
            <a:r>
              <a:rPr lang="en-US" sz="2400" b="1" dirty="0"/>
              <a:t>Step 2:</a:t>
            </a:r>
            <a:r>
              <a:rPr lang="en-US" sz="2400" dirty="0"/>
              <a:t> Choose Database &amp; API</a:t>
            </a:r>
            <a:br>
              <a:rPr lang="en-US" sz="2400" dirty="0"/>
            </a:br>
            <a:r>
              <a:rPr lang="en-US" sz="2400" dirty="0"/>
              <a:t>Select the NoSQL API, region, and capacity mode.</a:t>
            </a:r>
          </a:p>
          <a:p>
            <a:r>
              <a:rPr lang="en-US" sz="2400" b="1" dirty="0"/>
              <a:t>Step 3:</a:t>
            </a:r>
            <a:r>
              <a:rPr lang="en-US" sz="2400" dirty="0"/>
              <a:t> Create Database</a:t>
            </a:r>
          </a:p>
          <a:p>
            <a:r>
              <a:rPr lang="en-US" sz="2400" b="1" dirty="0"/>
              <a:t>Step 4:</a:t>
            </a:r>
            <a:r>
              <a:rPr lang="en-US" sz="2400" dirty="0"/>
              <a:t> Create Container</a:t>
            </a:r>
          </a:p>
          <a:p>
            <a:r>
              <a:rPr lang="en-US" sz="2400" b="1" dirty="0"/>
              <a:t>Step 5:</a:t>
            </a:r>
            <a:r>
              <a:rPr lang="en-US" sz="2400" dirty="0"/>
              <a:t> Get Connection String or IAM Policy</a:t>
            </a:r>
            <a:br>
              <a:rPr lang="en-US" sz="2400" dirty="0"/>
            </a:br>
            <a:r>
              <a:rPr lang="en-US" sz="2400" dirty="0"/>
              <a:t>Copy the primary connection string from the </a:t>
            </a:r>
            <a:r>
              <a:rPr lang="en-US" sz="2400" b="1" dirty="0"/>
              <a:t>Keys</a:t>
            </a:r>
            <a:r>
              <a:rPr lang="en-US" sz="2400" dirty="0"/>
              <a:t> section for application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Vectors</a:t>
            </a:r>
            <a:r>
              <a:rPr lang="en-US" dirty="0" err="1"/>
              <a:t>DB</a:t>
            </a:r>
            <a:r>
              <a:rPr dirty="0"/>
              <a:t>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Vector Database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800" dirty="0"/>
              <a:t>Stores embeddings (numerical vectors that represent meaning)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800" dirty="0"/>
              <a:t>Enables fast similarity search using ANN algorithms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800" dirty="0"/>
              <a:t>Powers AI features like semantic search, chatbots, and recommendation engines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Semantic Search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Searches by </a:t>
            </a:r>
            <a:r>
              <a:rPr lang="en-US" sz="1600" b="1" dirty="0"/>
              <a:t>meaning</a:t>
            </a:r>
            <a:r>
              <a:rPr lang="en-US" sz="1600" dirty="0"/>
              <a:t>, not keywords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Example: Searching </a:t>
            </a:r>
            <a:r>
              <a:rPr lang="en-US" sz="1600" i="1" dirty="0"/>
              <a:t>“cheap running shoes”</a:t>
            </a:r>
            <a:r>
              <a:rPr lang="en-US" sz="1600" dirty="0"/>
              <a:t> also finds </a:t>
            </a:r>
            <a:r>
              <a:rPr lang="en-US" sz="1600" i="1" dirty="0"/>
              <a:t>“budget sneakers”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 AI Chatbots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Converts user questions into embeddings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Finds the closest matching answer from Vector DB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Example: User asks </a:t>
            </a:r>
            <a:r>
              <a:rPr lang="en-US" sz="1600" i="1" dirty="0"/>
              <a:t>“How to reset password?”</a:t>
            </a:r>
            <a:r>
              <a:rPr lang="en-US" sz="1600" dirty="0"/>
              <a:t> → retrieves FAQ answer automatically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355" y="162723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Embeddings</a:t>
            </a:r>
            <a:r>
              <a:rPr lang="en-US" sz="2400" dirty="0"/>
              <a:t> </a:t>
            </a:r>
            <a:r>
              <a:rPr lang="en-US" sz="2000" dirty="0"/>
              <a:t>are numerical vector representations of text (or images/audio) that capture the </a:t>
            </a:r>
            <a:r>
              <a:rPr lang="en-US" sz="2000" b="1" dirty="0"/>
              <a:t>meaning</a:t>
            </a:r>
            <a:r>
              <a:rPr lang="en-US" sz="2000" dirty="0"/>
              <a:t> and </a:t>
            </a:r>
            <a:r>
              <a:rPr lang="en-US" sz="2000" b="1" dirty="0"/>
              <a:t>context</a:t>
            </a:r>
            <a:r>
              <a:rPr lang="en-US" sz="2000" dirty="0"/>
              <a:t> of the input e</a:t>
            </a:r>
            <a:r>
              <a:rPr sz="2000" dirty="0"/>
              <a:t>xample: [0.12, -0.22, 0.98, ...]</a:t>
            </a:r>
            <a:endParaRPr lang="en-US" sz="20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lang="en-US" sz="2000" dirty="0"/>
              <a:t>• Converts text into numerical vectors</a:t>
            </a:r>
            <a:br>
              <a:rPr lang="en-US" sz="2000" dirty="0"/>
            </a:br>
            <a:r>
              <a:rPr lang="en-US" sz="2000" dirty="0"/>
              <a:t>• Represents semantic meaning</a:t>
            </a:r>
            <a:br>
              <a:rPr lang="en-US" sz="2000" dirty="0"/>
            </a:br>
            <a:r>
              <a:rPr lang="en-US" sz="2000" dirty="0"/>
              <a:t>• Similar meanings → closer vectors</a:t>
            </a:r>
            <a:br>
              <a:rPr lang="en-US" sz="2000" dirty="0"/>
            </a:br>
            <a:r>
              <a:rPr lang="en-US" sz="2000" dirty="0"/>
              <a:t>• Used for search, clustering, recommendations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Vector Index &amp;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A </a:t>
            </a:r>
            <a:r>
              <a:rPr lang="en-US" sz="1600" b="1" dirty="0"/>
              <a:t>Vector Index</a:t>
            </a:r>
            <a:r>
              <a:rPr lang="en-US" sz="1600" dirty="0"/>
              <a:t> is a specialized data structure that organizes high-dimensional embeddings so that similar vectors can be found </a:t>
            </a:r>
            <a:r>
              <a:rPr lang="en-US" sz="1600" b="1" dirty="0"/>
              <a:t>quickly</a:t>
            </a:r>
            <a:r>
              <a:rPr lang="en-US" sz="1600" dirty="0"/>
              <a:t> without scanning the entire database</a:t>
            </a:r>
          </a:p>
          <a:p>
            <a:pPr marL="0" indent="0">
              <a:buNone/>
            </a:pPr>
            <a:r>
              <a:rPr lang="en-US" sz="1600" b="1" dirty="0"/>
              <a:t>Why it’s Needed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Embeddings are large (hundreds–thousands of numbers).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Searching through millions of vectors is slow.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Vector index makes similarity search </a:t>
            </a:r>
            <a:r>
              <a:rPr lang="en-US" altLang="en-US" sz="1600" b="1" dirty="0">
                <a:latin typeface="Arial" panose="020B0604020202020204" pitchFamily="34" charset="0"/>
              </a:rPr>
              <a:t>fast, scalable, and efficient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latin typeface="Arial" panose="020B0604020202020204" pitchFamily="34" charset="0"/>
              </a:rPr>
              <a:t>Some Techniques :</a:t>
            </a:r>
            <a:endParaRPr lang="en-US" sz="1600" b="1" dirty="0"/>
          </a:p>
          <a:p>
            <a:pPr lvl="1"/>
            <a:r>
              <a:rPr lang="en-US" sz="1600" b="1" dirty="0"/>
              <a:t>DISKANN</a:t>
            </a:r>
            <a:r>
              <a:rPr lang="en-US" sz="1600" dirty="0"/>
              <a:t>(Disk-Accelerated Approximate Nearest Neighbor):- A vector index designed to perform ANN search using </a:t>
            </a:r>
            <a:r>
              <a:rPr lang="en-US" sz="1600" b="1" dirty="0"/>
              <a:t>SSD storage instead of RAM</a:t>
            </a:r>
            <a:r>
              <a:rPr lang="en-US" sz="1600" dirty="0"/>
              <a:t>, allowing extremely large vector datasets to be searched efficiently.</a:t>
            </a:r>
          </a:p>
          <a:p>
            <a:pPr lvl="1"/>
            <a:r>
              <a:rPr lang="en-US" sz="1600" b="1" dirty="0"/>
              <a:t>IVF</a:t>
            </a:r>
            <a:r>
              <a:rPr lang="en-US" sz="1600" dirty="0"/>
              <a:t> (Inverted File Index)</a:t>
            </a:r>
            <a:r>
              <a:rPr lang="en-US" sz="1600" b="1" dirty="0"/>
              <a:t>:-</a:t>
            </a:r>
            <a:r>
              <a:rPr lang="en-US" sz="1600" dirty="0"/>
              <a:t> This divides all embeddings into </a:t>
            </a:r>
            <a:r>
              <a:rPr lang="en-US" sz="1600" b="1" dirty="0"/>
              <a:t>clusters (centroids)</a:t>
            </a:r>
            <a:r>
              <a:rPr lang="en-US" sz="1600" dirty="0"/>
              <a:t> and searches only within the closest clusters, making similarity search faster.</a:t>
            </a:r>
          </a:p>
          <a:p>
            <a:pPr lvl="1"/>
            <a:r>
              <a:rPr lang="en-US" sz="1600" b="1" dirty="0"/>
              <a:t>HNSW </a:t>
            </a:r>
            <a:r>
              <a:rPr lang="en-US" sz="1600" dirty="0"/>
              <a:t>(Hierarchical Navigable Small World)</a:t>
            </a:r>
            <a:r>
              <a:rPr lang="en-US" sz="1600" b="1" dirty="0"/>
              <a:t>:-</a:t>
            </a:r>
            <a:r>
              <a:rPr lang="en-US" sz="1600" dirty="0"/>
              <a:t> Uses a </a:t>
            </a:r>
            <a:r>
              <a:rPr lang="en-US" sz="1600" b="1" dirty="0"/>
              <a:t>hierarchical graph structure</a:t>
            </a:r>
            <a:r>
              <a:rPr lang="en-US" sz="1600" dirty="0"/>
              <a:t> to quickly find approximate nearest neighbors in large vector datasets.</a:t>
            </a:r>
            <a:endParaRPr lang="en-US" sz="1600" b="1" dirty="0"/>
          </a:p>
          <a:p>
            <a:endParaRPr lang="en-US"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Vector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king - man + woman = queen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36285D-A08F-EA6C-3AC4-B829468A6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958344"/>
              </p:ext>
            </p:extLst>
          </p:nvPr>
        </p:nvGraphicFramePr>
        <p:xfrm>
          <a:off x="457200" y="2325908"/>
          <a:ext cx="8146026" cy="3524286"/>
        </p:xfrm>
        <a:graphic>
          <a:graphicData uri="http://schemas.openxmlformats.org/drawingml/2006/table">
            <a:tbl>
              <a:tblPr/>
              <a:tblGrid>
                <a:gridCol w="1288026">
                  <a:extLst>
                    <a:ext uri="{9D8B030D-6E8A-4147-A177-3AD203B41FA5}">
                      <a16:colId xmlns:a16="http://schemas.microsoft.com/office/drawing/2014/main" val="10768374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2268867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467908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16980667"/>
                    </a:ext>
                  </a:extLst>
                </a:gridCol>
                <a:gridCol w="1140542">
                  <a:extLst>
                    <a:ext uri="{9D8B030D-6E8A-4147-A177-3AD203B41FA5}">
                      <a16:colId xmlns:a16="http://schemas.microsoft.com/office/drawing/2014/main" val="2951955044"/>
                    </a:ext>
                  </a:extLst>
                </a:gridCol>
                <a:gridCol w="1602658">
                  <a:extLst>
                    <a:ext uri="{9D8B030D-6E8A-4147-A177-3AD203B41FA5}">
                      <a16:colId xmlns:a16="http://schemas.microsoft.com/office/drawing/2014/main" val="3284516946"/>
                    </a:ext>
                  </a:extLst>
                </a:gridCol>
              </a:tblGrid>
              <a:tr h="74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Queen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Woman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King − Man + Queen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76239"/>
                  </a:ext>
                </a:extLst>
              </a:tr>
              <a:tr h="42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Authority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1−0.2+1=1.8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82918"/>
                  </a:ext>
                </a:extLst>
              </a:tr>
              <a:tr h="42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1 − 1 + 1 =0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76229"/>
                  </a:ext>
                </a:extLst>
              </a:tr>
              <a:tr h="74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Hair/Bald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0 − 1 + 0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026432"/>
                  </a:ext>
                </a:extLst>
              </a:tr>
              <a:tr h="74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1−0.3+0.2 =0.9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070915"/>
                  </a:ext>
                </a:extLst>
              </a:tr>
              <a:tr h="4271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9088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Vector DB in Cosmos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</a:t>
            </a:r>
            <a:r>
              <a:rPr lang="en-US" dirty="0"/>
              <a:t> Enable Vector Policy</a:t>
            </a:r>
          </a:p>
          <a:p>
            <a:r>
              <a:rPr lang="en-US" b="1" dirty="0"/>
              <a:t>Step 2:</a:t>
            </a:r>
            <a:r>
              <a:rPr lang="en-US" dirty="0"/>
              <a:t> Create Container</a:t>
            </a:r>
          </a:p>
          <a:p>
            <a:r>
              <a:rPr lang="en-US" b="1" dirty="0"/>
              <a:t>Step 3:</a:t>
            </a:r>
            <a:r>
              <a:rPr lang="en-US" dirty="0"/>
              <a:t> Define Vector Index</a:t>
            </a:r>
          </a:p>
          <a:p>
            <a:r>
              <a:rPr lang="en-US" b="1" dirty="0"/>
              <a:t>Step 4:</a:t>
            </a:r>
            <a:r>
              <a:rPr lang="en-US" dirty="0"/>
              <a:t> Insert Items with Embeddings</a:t>
            </a:r>
          </a:p>
          <a:p>
            <a:r>
              <a:rPr lang="en-US" b="1" dirty="0"/>
              <a:t>Step 5:</a:t>
            </a:r>
            <a:r>
              <a:rPr lang="en-US" dirty="0"/>
              <a:t> Run </a:t>
            </a:r>
            <a:r>
              <a:rPr lang="en-US" dirty="0" err="1"/>
              <a:t>VectorDistance</a:t>
            </a:r>
            <a:r>
              <a:rPr lang="en-US" dirty="0"/>
              <a:t>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OpenAI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</a:t>
            </a:r>
            <a:r>
              <a:rPr lang="en-US" sz="2000" b="1" dirty="0"/>
              <a:t>Azure OpenAI</a:t>
            </a:r>
            <a:r>
              <a:rPr lang="en-US" sz="2000" dirty="0"/>
              <a:t> is a cloud service from Microsoft that gives you access to OpenAI’s powerful AI models—such as GPT, embeddings, and image models—inside the </a:t>
            </a:r>
            <a:r>
              <a:rPr lang="en-US" sz="2000" b="1" dirty="0"/>
              <a:t>secure Azure environment </a:t>
            </a:r>
            <a:r>
              <a:rPr lang="en-US" sz="2000" dirty="0"/>
              <a:t>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Generate text, chat responses, and summaries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Create embeddings for vector search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Build chatbots, copilots, and AI assistants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indent="0">
              <a:buNone/>
            </a:pPr>
            <a:r>
              <a:rPr sz="2000" dirty="0"/>
              <a:t>•</a:t>
            </a:r>
            <a:r>
              <a:rPr sz="2000" b="1" dirty="0"/>
              <a:t> </a:t>
            </a:r>
            <a:r>
              <a:rPr sz="2400" b="1" dirty="0"/>
              <a:t>Model</a:t>
            </a:r>
            <a:r>
              <a:rPr sz="2400" dirty="0"/>
              <a:t>: </a:t>
            </a:r>
            <a:r>
              <a:rPr sz="2400" b="1" dirty="0"/>
              <a:t>text-embedding-3-large</a:t>
            </a:r>
            <a:r>
              <a:rPr lang="en-US" sz="2400" b="1" dirty="0"/>
              <a:t>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Converts text into a </a:t>
            </a:r>
            <a:r>
              <a:rPr lang="en-US" altLang="en-US" sz="2000" b="1" dirty="0">
                <a:latin typeface="Arial" panose="020B0604020202020204" pitchFamily="34" charset="0"/>
              </a:rPr>
              <a:t>high-dimensional numerical vector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Captures </a:t>
            </a:r>
            <a:r>
              <a:rPr lang="en-US" altLang="en-US" sz="2000" b="1" dirty="0">
                <a:latin typeface="Arial" panose="020B0604020202020204" pitchFamily="34" charset="0"/>
              </a:rPr>
              <a:t>semantic meaning</a:t>
            </a:r>
            <a:r>
              <a:rPr lang="en-US" altLang="en-US" sz="2000" dirty="0">
                <a:latin typeface="Arial" panose="020B0604020202020204" pitchFamily="34" charset="0"/>
              </a:rPr>
              <a:t> of words, sentences, or documents.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These vectors are stored in </a:t>
            </a:r>
            <a:r>
              <a:rPr lang="en-US" sz="2000" b="1" dirty="0"/>
              <a:t>Cosmos DB</a:t>
            </a:r>
            <a:r>
              <a:rPr lang="en-US" sz="2000" dirty="0"/>
              <a:t> for ANN similarity search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pic>
        <p:nvPicPr>
          <p:cNvPr id="3" name="Picture 2" descr="9a63a468-01d2-4b16-99e1-f42f21c3d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3" y="1417638"/>
            <a:ext cx="6331974" cy="532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664</Words>
  <Application>Microsoft Office PowerPoint</Application>
  <PresentationFormat>On-screen Show (4:3)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Cosmos DB Vector Search – FuzzyWord</vt:lpstr>
      <vt:lpstr>What is Azure Cosmos DB?</vt:lpstr>
      <vt:lpstr>CosmosDB Setup</vt:lpstr>
      <vt:lpstr>VectorsDB &amp; Use Cases</vt:lpstr>
      <vt:lpstr>Embeddings</vt:lpstr>
      <vt:lpstr>Vector Index &amp; Clustering</vt:lpstr>
      <vt:lpstr>Word Vector Example</vt:lpstr>
      <vt:lpstr>Setup Vector DB in Cosmos DB</vt:lpstr>
      <vt:lpstr>Azure OpenAI</vt:lpstr>
      <vt:lpstr>Architecture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Siddlingreddy</dc:creator>
  <cp:keywords/>
  <dc:description>generated using python-pptx</dc:description>
  <cp:lastModifiedBy>siddlinga reddy</cp:lastModifiedBy>
  <cp:revision>2</cp:revision>
  <dcterms:created xsi:type="dcterms:W3CDTF">2013-01-27T09:14:16Z</dcterms:created>
  <dcterms:modified xsi:type="dcterms:W3CDTF">2025-11-20T07:35:31Z</dcterms:modified>
  <cp:category/>
</cp:coreProperties>
</file>